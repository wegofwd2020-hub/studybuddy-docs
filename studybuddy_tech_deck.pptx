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84848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4848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84848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4848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4848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68896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68896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68896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8896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52944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52944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2944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6992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6992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36992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5088" y="320040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05088" y="1033272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05088" y="1746504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05088" y="2459736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5088" y="3172968"/>
            <a:ext cx="54864" cy="54864"/>
          </a:xfrm>
          <a:prstGeom prst="ellipse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621792"/>
            <a:ext cx="2304288" cy="13716"/>
          </a:xfrm>
          <a:prstGeom prst="rect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039112"/>
            <a:ext cx="2304288" cy="13716"/>
          </a:xfrm>
          <a:prstGeom prst="rect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68896" y="347472"/>
            <a:ext cx="13716" cy="4114800"/>
          </a:xfrm>
          <a:prstGeom prst="rect">
            <a:avLst/>
          </a:prstGeom>
          <a:solidFill>
            <a:srgbClr val="00E676">
              <a:alpha val="25000"/>
            </a:srgbClr>
          </a:solidFill>
          <a:ln w="12700">
            <a:solidFill>
              <a:srgbClr val="00E676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92608"/>
            <a:ext cx="2022653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92608"/>
            <a:ext cx="20226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V0.2.0 — DESIGN PHASE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658368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600" dirty="0"/>
          </a:p>
        </p:txBody>
      </p:sp>
      <p:sp>
        <p:nvSpPr>
          <p:cNvPr id="43" name="Text 41"/>
          <p:cNvSpPr/>
          <p:nvPr/>
        </p:nvSpPr>
        <p:spPr>
          <a:xfrm>
            <a:off x="457200" y="129844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600" dirty="0"/>
          </a:p>
        </p:txBody>
      </p:sp>
      <p:sp>
        <p:nvSpPr>
          <p:cNvPr id="44" name="Shape 42"/>
          <p:cNvSpPr/>
          <p:nvPr/>
        </p:nvSpPr>
        <p:spPr>
          <a:xfrm>
            <a:off x="457200" y="1938528"/>
            <a:ext cx="22860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057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StudyBuddy OnDemand  ·  FastAPI + asyncpg + Redis + PostgreSQL + Celery + S3 + CloudFront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2816352"/>
            <a:ext cx="1536192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816352"/>
            <a:ext cx="1536192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90779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457200" y="33832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content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 hit)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21408" y="2816352"/>
            <a:ext cx="1536192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121408" y="2816352"/>
            <a:ext cx="153619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21408" y="290779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DB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2121408" y="33832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read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785616" y="2816352"/>
            <a:ext cx="1536192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85616" y="2816352"/>
            <a:ext cx="1536192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85616" y="290779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tiers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3785616" y="33832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L1→L2→CDN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49824" y="2816352"/>
            <a:ext cx="1536192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449824" y="2816352"/>
            <a:ext cx="1536192" cy="3657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9824" y="290779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roles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5449824" y="33832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14032" y="2816352"/>
            <a:ext cx="1536192" cy="109728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14032" y="2816352"/>
            <a:ext cx="1536192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2907792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37/37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7114032" y="338328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shipped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48646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  ·  BACKEND_ARCHITECTURE.md  ·  github.com/wegofwd2020-hub/studybuddy-docs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517904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SYSTEM OVERVIEW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Runtimes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2633472" cy="3611880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78992"/>
            <a:ext cx="2633472" cy="457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70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Operator-Run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1883664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3794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CLI: build_grade.py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2231136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85416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Claude Sonnet 4.6 per unit×lang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2578608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3288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Amazon Polly / Google TTS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2926080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88036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AlexJS safety analysis gate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" y="3273552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22783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→ S3 Content Store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" y="3621024"/>
            <a:ext cx="54864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57530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chain (5 units parallel)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2414016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4315968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build-grade --grade 8 --lang en,fr,es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82112" y="1078992"/>
            <a:ext cx="2633472" cy="36118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1078992"/>
            <a:ext cx="2633472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1170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19272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· Stateless · Horizontally Scalable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46704" y="1883664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83794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(gunicorn managed)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46704" y="2231136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2185416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→ PgBouncer → PostgreSQL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46704" y="2578608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253288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aioredis → Redis Cluster (L2 cache)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46704" y="2926080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288036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dispatch (fire-and-forget)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46704" y="3273552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322783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TLS termination + rate limiting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46704" y="3621024"/>
            <a:ext cx="54864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357530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 — all endpoints versioned /api/v1/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4297680"/>
            <a:ext cx="2414016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4315968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 -w $((2*CPU+1)) -k uvicorn.workers.UvicornWorker main:app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16752" y="1078992"/>
            <a:ext cx="2633472" cy="36118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16752" y="1078992"/>
            <a:ext cx="2633472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11704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53912" y="1536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Device · Offline-First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81344" y="1883664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183794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Kivy / Python → Android + Chrome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81344" y="2231136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2185416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 content + event cache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81344" y="2578608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2532888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PKCE → internal JWT exchange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81344" y="2926080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2880360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SyncManager: offline progress queue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81344" y="3273552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91072" y="322783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→ CloudFront for audio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81344" y="3621024"/>
            <a:ext cx="54864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3575304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on reconnect — idempotent events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4297680"/>
            <a:ext cx="2414016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81344" y="4315968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/progress/answer → Celery queue → DB (async)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944368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46E7A"/>
                </a:solidFill>
              </a:rPr>
              <a:t>→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5779008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46E7A"/>
                </a:solidFill>
              </a:rPr>
              <a:t>→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2907792" y="2971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29718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REST/JWT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181405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1814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Read Path — Zero DB Queries on Cache Hit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210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938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2666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2394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Redis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2122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1850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67728" y="107899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078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S3/CDN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15784" y="1426464"/>
            <a:ext cx="13716" cy="3291840"/>
          </a:xfrm>
          <a:prstGeom prst="rect">
            <a:avLst/>
          </a:prstGeom>
          <a:solidFill>
            <a:srgbClr val="252D45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" y="1664208"/>
            <a:ext cx="1097280" cy="1463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6971" y="160934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FF1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4283" y="1481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/content/unit_id/lesson  {JWT}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936699" y="1956816"/>
            <a:ext cx="1097280" cy="1463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4251" y="19019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EFF1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91563" y="1773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 term + rate limit check (Redis ~1ms)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33979" y="2249424"/>
            <a:ext cx="1097280" cy="1463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1531" y="21945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107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088843" y="20665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verify (in-memory key ~0.1ms) → L1 curriculum?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3979" y="2487168"/>
            <a:ext cx="1097280" cy="1463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2267" y="24323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</a:rPr>
              <a:t>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88843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HIT: curriculum_id  (~0ms)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33979" y="2743200"/>
            <a:ext cx="2194560" cy="1463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18811" y="26883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▶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88843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entitlement:{student_id}  (~1ms)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33979" y="2980944"/>
            <a:ext cx="2194560" cy="1463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52267" y="292608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</a:rPr>
              <a:t>◀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88843" y="27980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HIT: {plan, lessons_accessed}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33979" y="3218688"/>
            <a:ext cx="2194560" cy="1463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18811" y="316382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</a:rPr>
              <a:t>▶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88843" y="30358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content:{curriculum}:{unit}:lesson:en  (~1ms)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033979" y="3456432"/>
            <a:ext cx="2194560" cy="1463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52267" y="340156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</a:rPr>
              <a:t>◀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088843" y="32735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HIT: lesson JSON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39419" y="3703320"/>
            <a:ext cx="2194560" cy="1463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7707" y="36484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CD4"/>
                </a:solidFill>
              </a:rPr>
              <a:t>◀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94283" y="3520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 lesson JSON  (total: ~5ms)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406640" y="1078992"/>
            <a:ext cx="15087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6640" y="1078992"/>
            <a:ext cx="15087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117043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52360" y="16642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verify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275320" y="17007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~0.1ms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21214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21579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curriculum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275320" y="2157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~0ms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452360" y="25786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26151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entitlement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275320" y="26151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~1ms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52360" y="30358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0" y="30723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content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275320" y="30723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~1ms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452360" y="34930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0" y="35295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queries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75320" y="35295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52360" y="3950208"/>
            <a:ext cx="141732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986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p95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75320" y="39867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84490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449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CACHING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Cache Hierarchy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2651760" cy="3657600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78992"/>
            <a:ext cx="265176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152144"/>
            <a:ext cx="384048" cy="38404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L1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11704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TTLCache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13898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cachetools.TTLCache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32304" y="1152144"/>
            <a:ext cx="438912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115214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166420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worker process — ephemeral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2011680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0482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signing keys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47672" y="20482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1hr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" y="2359152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3957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Curriculum trees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47672" y="2395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5min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" y="2706624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7432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config / flags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47672" y="2743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1min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" y="3145536"/>
            <a:ext cx="239572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145536"/>
            <a:ext cx="36576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00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store per-student data here — LRU evicts useful entries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1078992"/>
            <a:ext cx="2651760" cy="3657600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1078992"/>
            <a:ext cx="2651760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1152144"/>
            <a:ext cx="384048" cy="384048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L2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76472" y="11704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76472" y="13898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aioredis (async)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66944" y="1152144"/>
            <a:ext cx="438912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115214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10128" y="166420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ALL workers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0128" y="2011680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20482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ent:{student_id}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82312" y="20482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300s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10128" y="2359152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23957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cur:{student_id}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82312" y="2395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300s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10128" y="2706624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27432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content:{curriculum}:{unit}:{type}:{lang}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82312" y="2743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3600s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10128" y="3054096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309067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rl:auth:{ip}  /  rl:content:{student}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82312" y="3090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60s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310128" y="3401568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4992" y="343814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jwt_refresh:{token_hash}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82312" y="34381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TTL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10128" y="3749040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64992" y="378561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quiz_set:{student}:{unit}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82312" y="3785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30d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310128" y="4187952"/>
            <a:ext cx="239572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10128" y="4187952"/>
            <a:ext cx="36576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42428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AOF persistence mandatory — Redis restart must NOT log out all students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16752" y="1078992"/>
            <a:ext cx="2651760" cy="3657600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16752" y="1078992"/>
            <a:ext cx="26517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4768" y="1152144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</a:rPr>
              <a:t>L3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611112" y="11704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611112" y="13898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origin + global PoPs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101584" y="1152144"/>
            <a:ext cx="438912" cy="329184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01584" y="115214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~5–30ms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44768" y="1664208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edge — audio + large JSON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44768" y="2011680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99632" y="204825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lesson_{lang}.json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616952" y="20482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max-age=3600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144768" y="2359152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99632" y="239572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quiz_set_{N}_{lang}.json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616952" y="2395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max-age=3600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144768" y="2706624"/>
            <a:ext cx="2395728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9632" y="27432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lesson_{lang}.mp3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616952" y="2743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max-age=86400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144768" y="3145536"/>
            <a:ext cx="2395728" cy="475488"/>
          </a:xfrm>
          <a:prstGeom prst="rect">
            <a:avLst/>
          </a:prstGeom>
          <a:solidFill>
            <a:srgbClr val="1A10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44768" y="3145536"/>
            <a:ext cx="36576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32004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Audio NEVER proxied through API — client fetches presigned URL directly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602029" cy="23774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6020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TECHNOLOGY STACK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&amp; Rationale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143000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9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ASGI 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624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1216152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19786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Async-native; Pydantic validation; auto OpenAPI docs; fastest Python ASGI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655064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30552" y="1728216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170992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uvicorn workers: N = 2×vCPU+1; graceful reload without downtime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167128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03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 Proxy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386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30552" y="2240280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21992" y="22219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termination; leaky-bucket rate limiting; HTTP/2; gzip; keep-alive pooling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679192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15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PostgreSQL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89864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30552" y="2752344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1992" y="273405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Python PG driver; native async; no ORM overhead on hot paths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191256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27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Pooling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4107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(transaction mode)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30552" y="3264408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1992" y="32461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PG max_connections pressure; pool_size=50 in front of primary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703320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398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Redis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9227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aioredis / redis-py async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30552" y="3776472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1992" y="375818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Non-blocking; matches FastAPI event loop; L2 cache + Celery broker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4215384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51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Tasks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broker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30552" y="4288536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21992" y="427024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Mature; retry/backoff; task routing; Celery Beat for scheduled jobs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1143000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179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In-Process Cache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136245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cachetools TTLCache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28232" y="1216152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119786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Zero-latency LRU+TTL; no network hop; JWT keys + curriculum trees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45152" y="1655064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6916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Breakers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circuitbreaker library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28232" y="1728216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170992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Stripe/Anthropic/TTS/SES — prevents cascade failure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45152" y="2167128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203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Migrations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238658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28232" y="2240280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22219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versioning; automated apply on deploy; env var config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2679192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7157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Delivery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54880" y="289864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28232" y="2752344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9672" y="273405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URLs; global CDN; API server never proxies audio bytes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3191256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227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54880" y="34107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28232" y="3264408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19672" y="32461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HTTP metrics + 20 custom business/infra counters; 6 dashboards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3703320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7398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Tracking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54880" y="392277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(FastAPI + Mobile)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28232" y="3776472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19672" y="3758184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 with correlation_id; PII stripped via before_send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4215384"/>
            <a:ext cx="4114800" cy="457200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4251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 (Pipeline)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44348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(pinned)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428232" y="4288536"/>
            <a:ext cx="13716" cy="3200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19672" y="427024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model pin — never 'latest'; upgrade is a deliberate code change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35424" y="1078992"/>
            <a:ext cx="13716" cy="367588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433779" cy="23774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4337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AUTHENTICATION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Auth — External + Local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4023360" cy="3703320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78992"/>
            <a:ext cx="402336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External (Auth0)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+ Teachers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Auth0 PKCE login → id_token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1762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 /auth/exchange → verify JWKS (L1 cache 24hr)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5237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Backend upserts student by external_auth_id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8712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Issues internal JWT {student_id, grade, locale, role}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2186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Refresh token stored in Redis (30-day TTL)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5661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Password NEVER stored — Auth0 is sole credential owner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9136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Forgot-password → calls Auth0 Management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224528"/>
            <a:ext cx="3767328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4224528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31596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JWT payload (student)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" y="4581144"/>
            <a:ext cx="3730752" cy="24688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5811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{"student_id":"uuid","grade":8,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" y="4846320"/>
            <a:ext cx="3730752" cy="24688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8463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"locale":"fr","role":"student",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" y="5111496"/>
            <a:ext cx="3730752" cy="24688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51114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"exp":1234567890}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078992"/>
            <a:ext cx="4023360" cy="3703320"/>
          </a:xfrm>
          <a:prstGeom prst="rect">
            <a:avLst/>
          </a:prstGeom>
          <a:solidFill>
            <a:srgbClr val="161B27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078992"/>
            <a:ext cx="4023360" cy="45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Local (bcrypt)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4632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 Team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828800"/>
            <a:ext cx="374904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1865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86537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access to all admin endpoints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286000"/>
            <a:ext cx="374904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2322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32257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trigger regeneration + view all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743200"/>
            <a:ext cx="374904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7797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product_admin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277977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Account/school management; publish content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200400"/>
            <a:ext cx="374904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2369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super_admin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323697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access; manages admin users; TOTP enforced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Suspension → Redis suspended:{id}  (no TTL — persists until manually lifted)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4041648"/>
            <a:ext cx="374904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4041648"/>
            <a:ext cx="36576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4133088"/>
            <a:ext cx="3547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Account lockout: 5 fails → 15min Redis key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92624" y="4398264"/>
            <a:ext cx="3547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Auth0 sync on suspension (best-effort)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92624" y="4663440"/>
            <a:ext cx="3547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TOTP enforced at super_admin (Phase 7+)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349654" cy="23774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349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AUTHORIZATION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Static In-Code Permission Matrix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64792" y="1078992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1078992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42032" y="1078992"/>
            <a:ext cx="89611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078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38144" y="1078992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078992"/>
            <a:ext cx="70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school_admin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15384" y="1078992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07899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product_admin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9784" y="1078992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07899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44184" y="1078992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078992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93992" y="1078992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1078992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64792" y="1444752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4792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1444752"/>
            <a:ext cx="896112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14630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38144" y="1444752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15384" y="144475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15384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9784" y="1444752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9784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44184" y="1444752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44184" y="1463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" y="1444752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146304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content:read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93992" y="1444752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1463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64792" y="1792224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64792" y="1810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42032" y="1792224"/>
            <a:ext cx="89611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42032" y="181051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38144" y="1792224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38144" y="1810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15384" y="1792224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15384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129784" y="1792224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9784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44184" y="1792224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44184" y="1810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47472" y="1792224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0624" y="181051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content:publish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793992" y="1792224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93992" y="1810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764792" y="2139696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64792" y="2157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542032" y="2139696"/>
            <a:ext cx="896112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42032" y="215798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438144" y="2139696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38144" y="2157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215384" y="2139696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15384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129784" y="2139696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9784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044184" y="2139696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44184" y="21579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47472" y="2139696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0624" y="215798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content:rollback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793992" y="2139696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93992" y="21579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764792" y="2487168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764792" y="2505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542032" y="2487168"/>
            <a:ext cx="89611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542032" y="250545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3438144" y="2487168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438144" y="2505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215384" y="2487168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15384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129784" y="2487168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129784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6044184" y="2487168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44184" y="25054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347472" y="2487168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20624" y="250545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content:block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793992" y="2487168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793992" y="25054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764792" y="2834640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764792" y="2852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542032" y="2834640"/>
            <a:ext cx="896112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542032" y="28529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438144" y="2834640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438144" y="2852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4215384" y="2834640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15384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129784" y="2834640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129784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044184" y="2834640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044184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20624" y="2852928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content:regenerate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6793992" y="2834640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793992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1764792" y="3182112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764792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2542032" y="3182112"/>
            <a:ext cx="89611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542032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3438144" y="3182112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438144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4215384" y="3182112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215384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5129784" y="3182112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129784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6044184" y="3182112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044184" y="32004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347472" y="3182112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20624" y="32004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review:approve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6793992" y="3182112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793992" y="32004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92" name="Shape 190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1764792" y="3529584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764792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2542032" y="3529584"/>
            <a:ext cx="896112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542032" y="35478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3438144" y="3529584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438144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✓s</a:t>
            </a:r>
            <a:endParaRPr lang="en-US" sz="1100" dirty="0"/>
          </a:p>
        </p:txBody>
      </p:sp>
      <p:sp>
        <p:nvSpPr>
          <p:cNvPr id="204" name="Shape 202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4215384" y="3529584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215384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5129784" y="3529584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129784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12" name="Shape 210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6044184" y="3529584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044184" y="35478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16" name="Shape 214"/>
          <p:cNvSpPr/>
          <p:nvPr/>
        </p:nvSpPr>
        <p:spPr>
          <a:xfrm>
            <a:off x="347472" y="3529584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420624" y="3547872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student:manage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6793992" y="3529584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793992" y="35478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20" name="Shape 218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1764792" y="3877056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1764792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2542032" y="3877056"/>
            <a:ext cx="896112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2542032" y="38953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3438144" y="3877056"/>
            <a:ext cx="77724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3438144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32" name="Shape 230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34" name="Shape 232"/>
          <p:cNvSpPr/>
          <p:nvPr/>
        </p:nvSpPr>
        <p:spPr>
          <a:xfrm>
            <a:off x="4215384" y="3877056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215384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36" name="Shape 234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38" name="Shape 236"/>
          <p:cNvSpPr/>
          <p:nvPr/>
        </p:nvSpPr>
        <p:spPr>
          <a:xfrm>
            <a:off x="5129784" y="3877056"/>
            <a:ext cx="9144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129784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40" name="Shape 238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6044184" y="3877056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044184" y="38953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44" name="Shape 242"/>
          <p:cNvSpPr/>
          <p:nvPr/>
        </p:nvSpPr>
        <p:spPr>
          <a:xfrm>
            <a:off x="347472" y="3877056"/>
            <a:ext cx="141732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420624" y="3895344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school:manage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6793992" y="3877056"/>
            <a:ext cx="74980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6793992" y="38953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48" name="Shape 246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50" name="Shape 248"/>
          <p:cNvSpPr/>
          <p:nvPr/>
        </p:nvSpPr>
        <p:spPr>
          <a:xfrm>
            <a:off x="1764792" y="4224528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1764792" y="4242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52" name="Shape 250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54" name="Shape 252"/>
          <p:cNvSpPr/>
          <p:nvPr/>
        </p:nvSpPr>
        <p:spPr>
          <a:xfrm>
            <a:off x="2542032" y="4224528"/>
            <a:ext cx="896112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2542032" y="42428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56" name="Shape 254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58" name="Shape 256"/>
          <p:cNvSpPr/>
          <p:nvPr/>
        </p:nvSpPr>
        <p:spPr>
          <a:xfrm>
            <a:off x="3438144" y="4224528"/>
            <a:ext cx="77724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3438144" y="4242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60" name="Shape 258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62" name="Shape 260"/>
          <p:cNvSpPr/>
          <p:nvPr/>
        </p:nvSpPr>
        <p:spPr>
          <a:xfrm>
            <a:off x="4215384" y="4224528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215384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64" name="Shape 262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66" name="Shape 264"/>
          <p:cNvSpPr/>
          <p:nvPr/>
        </p:nvSpPr>
        <p:spPr>
          <a:xfrm>
            <a:off x="5129784" y="4224528"/>
            <a:ext cx="91440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129784" y="4242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100" dirty="0"/>
          </a:p>
        </p:txBody>
      </p:sp>
      <p:sp>
        <p:nvSpPr>
          <p:cNvPr id="268" name="Shape 266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6044184" y="4224528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044184" y="42428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72" name="Shape 270"/>
          <p:cNvSpPr/>
          <p:nvPr/>
        </p:nvSpPr>
        <p:spPr>
          <a:xfrm>
            <a:off x="347472" y="4224528"/>
            <a:ext cx="1417320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20624" y="4242816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admin:manage</a:t>
            </a:r>
            <a:endParaRPr lang="en-US" sz="900" dirty="0"/>
          </a:p>
        </p:txBody>
      </p:sp>
      <p:sp>
        <p:nvSpPr>
          <p:cNvPr id="274" name="Shape 272"/>
          <p:cNvSpPr/>
          <p:nvPr/>
        </p:nvSpPr>
        <p:spPr>
          <a:xfrm>
            <a:off x="6793992" y="4224528"/>
            <a:ext cx="749808" cy="34747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6793992" y="42428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76" name="Text 274"/>
          <p:cNvSpPr/>
          <p:nvPr/>
        </p:nvSpPr>
        <p:spPr>
          <a:xfrm>
            <a:off x="347472" y="4709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= granted  ·  ✓s = own school scope only  ·  — = denied  ·  Checked in FastAPI dependency — zero DB round-trips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08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181405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1814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AI PIPELINE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Pipeline — Pre-Build, Not Live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1572768" cy="1481328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97280"/>
            <a:ext cx="1572768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664208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grade8_stem.json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 → Units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01952" y="166420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66544" y="1097280"/>
            <a:ext cx="1572768" cy="1481328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66544" y="1097280"/>
            <a:ext cx="1572768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unit × lang)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57984" y="1664208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· 3×Quiz sets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Tutorial · Experiment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21024" y="166420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85616" y="1097280"/>
            <a:ext cx="1572768" cy="1481328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097280"/>
            <a:ext cx="1572768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77056" y="1664208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questions/quiz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≥3 key_points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retries on fail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0096" y="166420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04688" y="1097280"/>
            <a:ext cx="1572768" cy="1481328"/>
          </a:xfrm>
          <a:prstGeom prst="rect">
            <a:avLst/>
          </a:prstGeom>
          <a:solidFill>
            <a:srgbClr val="161B27"/>
          </a:solidFill>
          <a:ln w="12700">
            <a:solidFill>
              <a:srgbClr val="F4433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4688" y="1097280"/>
            <a:ext cx="1572768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AlexJS Safety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1664208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Language/bias 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warnings → review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≥1 → needs_review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59168" y="166420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23760" y="1097280"/>
            <a:ext cx="1572768" cy="1481328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097280"/>
            <a:ext cx="1572768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664208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 unit_id/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lesson_{lang}.json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lessson_{lang}.mp3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2743200"/>
            <a:ext cx="36576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743200"/>
            <a:ext cx="36576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816352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Parallelism: 5 units processed concurrently (Anthropic rate-limit aware)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unit: lesson → quiz×3 → tutorial → experiment → TTS (sequential — each depends on lesson)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51960" y="1078992"/>
            <a:ext cx="4663440" cy="3310128"/>
          </a:xfrm>
          <a:prstGeom prst="rect">
            <a:avLst/>
          </a:prstGeom>
          <a:solidFill>
            <a:srgbClr val="0D1117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51960" y="1078992"/>
            <a:ext cx="466344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1143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Store Layout  (S3 keyed by curriculum_id + unit_id)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43400" y="149961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curricula/{curriculum_id}/{unit_id}/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43400" y="177393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lesson_en.json     ← title + sections + key_points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43400" y="204825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lesson_fr.json     ← French (pre-generated, NOT translated)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43400" y="232257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lesson_es.json     ← Spanish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43400" y="259689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lesson_en.mp3      ← Amazon Polly / Google TTS pre-generated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43400" y="287121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quiz_set_1_en.json ← 8 questions, set 1 of 3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43400" y="314553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quiz_set_2_en.json ← rotated per attempt (prevents sharing)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343400" y="341985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quiz_set_3_en.json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43400" y="369417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tutorial_en.json   ← remediation for wrong answers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43400" y="396849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experiment_en.json ← only if curriculum unit has labs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343400" y="424281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alex_report.json   ← AlexJS warnings for human review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343400" y="4517136"/>
            <a:ext cx="4434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meta.json          ← model_version, content_version, langs_built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51960" y="4443984"/>
            <a:ext cx="4663440" cy="347472"/>
          </a:xfrm>
          <a:prstGeom prst="rect">
            <a:avLst/>
          </a:prstGeom>
          <a:solidFill>
            <a:srgbClr val="1A10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15968" y="4498848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~$40 total to generate all units for one grade × all 3 languages  ·  &lt; $0.001/student served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929030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929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DATABASE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— Primary / Replica / Materialized Views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4069080" cy="36118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097280"/>
            <a:ext cx="406908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Primary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508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+ strong-consistency reads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1874520"/>
            <a:ext cx="3822192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11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auth + writes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19110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 → primary (consistency)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2313432"/>
            <a:ext cx="3822192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check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23500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→ primary (must be current)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2752344"/>
            <a:ext cx="3822192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reporting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Replica (eventual OK)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" y="3191256"/>
            <a:ext cx="3822192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27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history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0280" y="32278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 Replica (1–2s lag acceptable)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Indexes: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3950208"/>
            <a:ext cx="3822192" cy="694944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950208"/>
            <a:ext cx="36576" cy="6949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041648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idx_curricula_resolver   ON curricula(school_id,grade,year,status) WHERE active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4306824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idx_subscriptions_student ON subscriptions(student_id) WHERE active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4572000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idx_sessions_attempt_count ON sessions(student_id,unit_id,curriculum_id)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4837176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idx_stripe_events_id  UNIQUE ON stripe_events(stripe_event_id)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1097280"/>
            <a:ext cx="4187952" cy="36118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1097280"/>
            <a:ext cx="4187952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1188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Read Replica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9744" y="15087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queries + materialized views  ·  streaming replication from primary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View: mv_unit_struggle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9744" y="2148840"/>
            <a:ext cx="3913632" cy="230428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9744" y="2148840"/>
            <a:ext cx="36576" cy="230428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2240280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56048" y="2505456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unit_id, curriculum_id,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56048" y="2770632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FILTER (WHERE attempt_number=1) AS first_attempts,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3035808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COUNT(*) FILTER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56048" y="330098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(WHERE passed AND attempt_number=1)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56048" y="3566160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NULLIF(first_attempts,0),1) AS pass_rate_pct,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831336"/>
            <a:ext cx="3877056" cy="24688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831336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AVG(score::float/total_questions) AS avg_score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56048" y="4096512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sessions WHERE completed=true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56048" y="4361688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unit_id, curriculum_id;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9744" y="4498848"/>
            <a:ext cx="3913632" cy="201168"/>
          </a:xfrm>
          <a:prstGeom prst="rect">
            <a:avLst/>
          </a:prstGeom>
          <a:solidFill>
            <a:srgbClr val="0D111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51713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🕐  Refreshed nightly 02:00 UTC by Celery Beat  ·  CONCURRENTLY on replica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770278" cy="2377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70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BACKGROUND WORKERS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Topology + Fire-and-Forget Pattern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2633472" cy="2423160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15568"/>
            <a:ext cx="2633472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Queue: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workers (CPU+IO bound)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837944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validate_curriculum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4028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build_units.chunks (5 parallel)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64261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build_unit: lesson→quiz×3→tutorial→TTS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044952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finalize_curriculum → notify teacher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82112" y="1115568"/>
            <a:ext cx="2633472" cy="2423160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115568"/>
            <a:ext cx="2633472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188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Queue: 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1508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workers (lightweight IO)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810512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1837944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 (SES / SendGrid)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212848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224028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flush_progress_events (bulk INSERT)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2615184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264261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invalidate_cache (Redis DEL)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3044952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stripe_webhook_handler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16752" y="1115568"/>
            <a:ext cx="2633472" cy="242316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16752" y="1115568"/>
            <a:ext cx="2633472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188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Queue: default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1508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io workers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810512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1837944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flush_stuck_progress_events (Beat 5min)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212848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224028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refresh_materialized_views (Beat 02:00 UTC)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615184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264261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check_content_freshness (Beat hourly)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3017520"/>
            <a:ext cx="2414016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044952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promote_student_grades (Beat annual)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" y="3657600"/>
            <a:ext cx="8503920" cy="10789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657600"/>
            <a:ext cx="36576" cy="10789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7124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Pattern — POST /progress/answer returns 200 OK in ~3ms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" y="4005072"/>
            <a:ext cx="832104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" y="4005072"/>
            <a:ext cx="36576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096512"/>
            <a:ext cx="8119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 endpoint — never waits for 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12064" y="4361688"/>
            <a:ext cx="8284464" cy="24688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4361688"/>
            <a:ext cx="8119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celery.send_task('tasks.flush_progress_events', args=[student_id, [body.dict()]], queue='default')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" y="4626864"/>
            <a:ext cx="8119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{'ok': True}    # returns immediately — DB write is async in worker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349654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349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OBSERVABILITY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 — Metrics, Logs, Traces, Alerts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2633472" cy="2450592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15568"/>
            <a:ext cx="2633472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609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prometheus-fastapi-instrumentator (auto HTTP)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192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 custom counters/histograms/gauges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sb_cache_hits_total  {layer: L1/L2}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5694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sb_entitlement_checks_total  {result}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2889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sb_pipeline_cost_usd  {grade}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3209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 /metrics  — Bearer token protected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82112" y="1115568"/>
            <a:ext cx="2633472" cy="2450592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115568"/>
            <a:ext cx="2633472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1609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emit_event()  — single call writes log + metrics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9272" y="192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correlation_id  propagated via ContextVar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9272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Returned in X-Correlation-Id response header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9272" y="25694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Categories: auth/content/progress/pipeline/security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9272" y="2889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Never log: JWT tokens, secrets, raw PII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9272" y="3209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Loki / CloudWatch / ELK aggregation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16752" y="1115568"/>
            <a:ext cx="2633472" cy="2450592"/>
          </a:xfrm>
          <a:prstGeom prst="rect">
            <a:avLst/>
          </a:prstGeom>
          <a:solidFill>
            <a:srgbClr val="161B27"/>
          </a:solidFill>
          <a:ln w="12700">
            <a:solidFill>
              <a:srgbClr val="F4433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16752" y="1115568"/>
            <a:ext cx="2633472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Alertmanager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16093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Sentry: unhandled exceptions + mobile crashes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53912" y="19293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PII stripped via before_send hook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53912" y="2249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Alertmanager routes: critical→PagerDuty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53912" y="25694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high→ #studybuddy-alerts (Slack)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53912" y="2889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StripeWebhookErrors → email payments team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53912" y="3209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PipelineUnitFailures → email content team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" y="36941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986784"/>
            <a:ext cx="3520440" cy="274320"/>
          </a:xfrm>
          <a:prstGeom prst="rect">
            <a:avLst/>
          </a:prstGeom>
          <a:solidFill>
            <a:srgbClr val="1E2438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98678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67912" y="3986784"/>
            <a:ext cx="685800" cy="274320"/>
          </a:xfrm>
          <a:prstGeom prst="rect">
            <a:avLst/>
          </a:prstGeom>
          <a:solidFill>
            <a:srgbClr val="1E2438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04488" y="39867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53712" y="3986784"/>
            <a:ext cx="685800" cy="274320"/>
          </a:xfrm>
          <a:prstGeom prst="rect">
            <a:avLst/>
          </a:prstGeom>
          <a:solidFill>
            <a:srgbClr val="1E2438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0288" y="39867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39512" y="3986784"/>
            <a:ext cx="731520" cy="274320"/>
          </a:xfrm>
          <a:prstGeom prst="rect">
            <a:avLst/>
          </a:prstGeom>
          <a:solidFill>
            <a:srgbClr val="1E2438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6088" y="39867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71032" y="3986784"/>
            <a:ext cx="1280160" cy="274320"/>
          </a:xfrm>
          <a:prstGeom prst="rect">
            <a:avLst/>
          </a:prstGeom>
          <a:solidFill>
            <a:srgbClr val="1E2438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7608" y="39867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7472" y="4279392"/>
            <a:ext cx="352044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297680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/content/{unit_id}/lesson  (cache hit)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867912" y="4279392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04488" y="4297680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10ms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53712" y="4279392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0288" y="4297680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239512" y="4279392"/>
            <a:ext cx="73152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76088" y="42976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100ms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71032" y="4279392"/>
            <a:ext cx="128016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07608" y="4297680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Redis hit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47472" y="4535424"/>
            <a:ext cx="35204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553712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/content/{unit_id}/lesson  (cache miss)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867912" y="4535424"/>
            <a:ext cx="68580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04488" y="455371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53712" y="4535424"/>
            <a:ext cx="68580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0288" y="455371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200ms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239512" y="4535424"/>
            <a:ext cx="731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76088" y="455371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400ms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971032" y="4535424"/>
            <a:ext cx="1280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07608" y="455371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read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7472" y="4791456"/>
            <a:ext cx="352044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4809744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867912" y="4791456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04488" y="4809744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200ms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53712" y="4791456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90288" y="4809744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500ms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239512" y="4791456"/>
            <a:ext cx="73152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76088" y="480974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800ms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71032" y="4791456"/>
            <a:ext cx="128016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07608" y="480974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bcrypt-bound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47472" y="5047488"/>
            <a:ext cx="352044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5065776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/progress/answer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867912" y="5047488"/>
            <a:ext cx="68580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04488" y="50657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5ms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53712" y="5047488"/>
            <a:ext cx="68580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90288" y="50657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20ms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239512" y="5047488"/>
            <a:ext cx="731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76088" y="506577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50ms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971032" y="5047488"/>
            <a:ext cx="128016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07608" y="5065776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fire-and-forget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47472" y="5303520"/>
            <a:ext cx="352044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5321808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/analytics/school/class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867912" y="5303520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04488" y="532180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200ms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553712" y="5303520"/>
            <a:ext cx="68580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90288" y="532180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239512" y="5303520"/>
            <a:ext cx="73152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76088" y="53218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971032" y="5303520"/>
            <a:ext cx="1280160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07608" y="5321808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 + mat.view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903720" y="3986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 target: 99.9%  (≤ 8.7 hrs/year)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929030" cy="23774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929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SECURITY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— Defense in Depth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2633472" cy="2304288"/>
          </a:xfrm>
          <a:prstGeom prst="rect">
            <a:avLst/>
          </a:prstGeom>
          <a:solidFill>
            <a:srgbClr val="161B27"/>
          </a:solidFill>
          <a:ln w="12700">
            <a:solidFill>
              <a:srgbClr val="F44336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115568"/>
            <a:ext cx="2633472" cy="36576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(nginx + Redis)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  +  /register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 per IP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048256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/auth/forgot-password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req/min per 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505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/content/*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req/min per student JWT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lockout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fails → 15min Redis key (no TTL reset)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82112" y="1115568"/>
            <a:ext cx="2633472" cy="2304288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1115568"/>
            <a:ext cx="2633472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1627632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env ONLY — never in backend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048256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  /  ADMIN_JWT_SECRET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keys — prevents cross-use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2468880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2505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STRIPE_WEBHOOK_SECRET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construct_event() signature check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889504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/ HashiCorp Vault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16752" y="1115568"/>
            <a:ext cx="2633472" cy="2304288"/>
          </a:xfrm>
          <a:prstGeom prst="rect">
            <a:avLst/>
          </a:prstGeom>
          <a:solidFill>
            <a:srgbClr val="161B27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16752" y="1115568"/>
            <a:ext cx="2633472" cy="3657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(COPPA / FERPA / GDPR)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6480" y="1627632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COPPA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0664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gate → parental consent for &lt; 13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2048256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FERPA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0664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from JWT only — never URL param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2468880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2505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0664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/auth/account → PII erasure 30 days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2889504"/>
            <a:ext cx="24231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log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40664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audit_log — rows never deleted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" y="3547872"/>
            <a:ext cx="850392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" y="3547872"/>
            <a:ext cx="36576" cy="12344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35935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Rules You Must Not Break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5488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Hot read path NEVER touches PostgreSQL on cache hit (entitlement in Redis is sole truth)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5488" y="4114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FastAPI event loop NEVER blocks — bcrypt/S3/DB all async or run_in_executor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5488" y="43342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Audio NEVER proxied through API — client fetches presigned URL from CloudFront directly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5488" y="4553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Progress writes NEVER delay client response — fire-and-forget Celery, 200 OK before DB write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663440" y="3895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Redis MUST survive restart — AOF persistence mandatory in production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63440" y="4114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PgBouncer SITS IN FRONT of PostgreSQL — API workers will exhaust max_connections without it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63440" y="43342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Content version bumps MUST invalidate BOTH Redis L2 AND CloudFront CDN invalidation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8229600" cy="13716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486460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</a:rPr>
              <a:t>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"/>
            <a:ext cx="1097280" cy="2377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117"/>
                </a:solidFill>
              </a:rPr>
              <a:t>DEPLOYMENT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"/>
            <a:ext cx="36576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512064"/>
            <a:ext cx="81015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— AWS Multi-AZ (Phase 2–6 / ~10k Students)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5029200" cy="713232"/>
          </a:xfrm>
          <a:prstGeom prst="rect">
            <a:avLst/>
          </a:prstGeom>
          <a:solidFill>
            <a:srgbClr val="161B27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15568"/>
            <a:ext cx="36576" cy="71323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15568"/>
            <a:ext cx="658368" cy="713232"/>
          </a:xfrm>
          <a:prstGeom prst="rect">
            <a:avLst/>
          </a:prstGeom>
          <a:solidFill>
            <a:srgbClr val="9C27B0">
              <a:alpha val="12000"/>
            </a:srgbClr>
          </a:solidFill>
          <a:ln w="12700">
            <a:solidFill>
              <a:srgbClr val="9C27B0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1556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1188720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CloudFront CDN  (S3 origin + global PoPs)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48132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nginx  (TLS, rate limiting, gzip, HTTP/2)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892808"/>
            <a:ext cx="5029200" cy="713232"/>
          </a:xfrm>
          <a:prstGeom prst="rect">
            <a:avLst/>
          </a:prstGeom>
          <a:solidFill>
            <a:srgbClr val="161B2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892808"/>
            <a:ext cx="36576" cy="7132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892808"/>
            <a:ext cx="658368" cy="713232"/>
          </a:xfrm>
          <a:prstGeom prst="rect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9280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1965960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ALB  (health check: GET /health)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25856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ASG: 2–8 × EC2 t3.large  (gunicorn + uvicorn × 4)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2551176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EC2 t3.medium  (Celery pipeline + IO workers + Beat)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670048"/>
            <a:ext cx="5029200" cy="713232"/>
          </a:xfrm>
          <a:prstGeom prst="rect">
            <a:avLst/>
          </a:prstGeom>
          <a:solidFill>
            <a:srgbClr val="161B2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670048"/>
            <a:ext cx="36576" cy="71323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670048"/>
            <a:ext cx="658368" cy="713232"/>
          </a:xfrm>
          <a:prstGeom prst="rect">
            <a:avLst/>
          </a:prstGeom>
          <a:solidFill>
            <a:srgbClr val="FF9800">
              <a:alpha val="12000"/>
            </a:srgbClr>
          </a:solidFill>
          <a:ln w="12700">
            <a:solidFill>
              <a:srgbClr val="FF9800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7004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2743200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ElastiCache Redis  cache.r6g.large  3-node cluster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" y="303580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AOF persistence  ·  maxmemory-policy allkeys-lru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447288"/>
            <a:ext cx="5029200" cy="713232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447288"/>
            <a:ext cx="36576" cy="7132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447288"/>
            <a:ext cx="658368" cy="713232"/>
          </a:xfrm>
          <a:prstGeom prst="rect">
            <a:avLst/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1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44728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78992" y="3520440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RDS PostgreSQL db.r6g.large  Multi-AZ (Primary + standby)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" y="381304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RDS Read Replica db.r6g.large  (analytics + app reads)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224528"/>
            <a:ext cx="5029200" cy="713232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224528"/>
            <a:ext cx="36576" cy="71323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224528"/>
            <a:ext cx="658368" cy="713232"/>
          </a:xfrm>
          <a:prstGeom prst="rect">
            <a:avLst/>
          </a:prstGeom>
          <a:solidFill>
            <a:srgbClr val="FFC107">
              <a:alpha val="12000"/>
            </a:srgbClr>
          </a:solidFill>
          <a:ln w="12700">
            <a:solidFill>
              <a:srgbClr val="FFC107">
                <a:alpha val="1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22452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" y="4297680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S3 Bucket: sb-content-prod  (versioning + SSE AES-256)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" y="4590288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CloudFront distribution  (presigned URLs for audio)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1115568"/>
            <a:ext cx="3310128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7840" y="1115568"/>
            <a:ext cx="3310128" cy="36576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Docker Compose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87568" y="1499616"/>
            <a:ext cx="310896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87568" y="1499616"/>
            <a:ext cx="36576" cy="1170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1591056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33872" y="1856232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    build: ./backend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33872" y="2121408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command: uvicorn main:app --reload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33872" y="2386584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worker: command: celery -A tasks worker -Q pipeline,default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33872" y="2651760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     image: postgres:16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33872" y="2916936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  image: redis:7-alpine --appendonly yes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2880360"/>
            <a:ext cx="3310128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0" y="2880360"/>
            <a:ext cx="3310128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29443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(Phase 7+, &gt;50k students)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87568" y="32735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ASG 2–8 × API: scale on CPU &gt; 60%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687568" y="35478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ASG 2–4 × Workers: scale on queue depth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87568" y="382219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RDS db.r6g.xlarge + 2 replicas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87568" y="40965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ElastiCache cluster (sharding by key prefix)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77840" y="4535424"/>
            <a:ext cx="3310128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553712"/>
            <a:ext cx="3182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CloudWatch Logs · Prometheus/Grafana · Sentry · PagerDuty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Card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2004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19072"/>
            <a:ext cx="502920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19072"/>
            <a:ext cx="36576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55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755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diagrams · API spec · data models · compliance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502920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76272"/>
            <a:ext cx="36576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128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BACKEND_ARCHITECTURE.md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read path · caching · DB · workers · nginx config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502920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33472"/>
            <a:ext cx="36576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6700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requirements · acceptance criteria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502920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90672"/>
            <a:ext cx="36576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27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127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onboarding guide + coding conventions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5029200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47872"/>
            <a:ext cx="36576" cy="40233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84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TESTING_SETUP.md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 · 37/37 passing · CI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github.com/wegofwd2020-hub/studybuddy-docs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84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Glossary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8046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841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Cache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8412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TTLCache per uvicorn worker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12618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61888" y="1298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Cache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2984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Redis — entitlement, content, rate limits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17190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1755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Cache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03720" y="17556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 — audio MP3s + large JSON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52160" y="21762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2212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PgBouncer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03720" y="22128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Transaction-mode connection pooler → PostgreSQL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26334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26700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Claude calls at pipeline time — not per student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52160" y="30906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3127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curriculum_id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3720" y="31272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keying all content — default or school-custom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0" y="35478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61888" y="3584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F&amp;F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35844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— Celery task, 200 OK before DB write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40050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61888" y="4041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AlexJS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03720" y="40416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safety gate — runs before every publish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4462272"/>
            <a:ext cx="2944368" cy="402336"/>
          </a:xfrm>
          <a:prstGeom prst="rect">
            <a:avLst/>
          </a:prstGeom>
          <a:solidFill>
            <a:srgbClr val="161B27"/>
          </a:solidFill>
          <a:ln w="12700">
            <a:solidFill>
              <a:srgbClr val="252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61888" y="4498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mv_unit_struggle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03720" y="44988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for teacher pass-rate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OnDemand — Technical Architecture</dc:title>
  <dc:subject>PptxGenJS Presentation</dc:subject>
  <dc:creator>StudyBuddy Engineering</dc:creator>
  <cp:lastModifiedBy>StudyBuddy Engineering</cp:lastModifiedBy>
  <cp:revision>1</cp:revision>
  <dcterms:created xsi:type="dcterms:W3CDTF">2026-04-02T15:07:36Z</dcterms:created>
  <dcterms:modified xsi:type="dcterms:W3CDTF">2026-04-02T15:07:36Z</dcterms:modified>
</cp:coreProperties>
</file>