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spPr>
            <a:solidFill>
              <a:srgbClr val="2962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CADC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</c:v>
                </c:pt>
                <c:pt idx="1">
                  <c:v>580</c:v>
                </c:pt>
                <c:pt idx="2">
                  <c:v>2400</c:v>
                </c:pt>
                <c:pt idx="3">
                  <c:v>9200</c:v>
                </c:pt>
                <c:pt idx="4">
                  <c:v>31000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CADC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34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286000" cy="514350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14032" y="0"/>
            <a:ext cx="54864" cy="5143500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457200"/>
            <a:ext cx="2743200" cy="2743200"/>
          </a:xfrm>
          <a:prstGeom prst="ellipse">
            <a:avLst/>
          </a:prstGeom>
          <a:solidFill>
            <a:srgbClr val="2962CC">
              <a:alpha val="12000"/>
            </a:srgbClr>
          </a:solidFill>
          <a:ln w="12700">
            <a:solidFill>
              <a:srgbClr val="2962CC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47472"/>
            <a:ext cx="1417320" cy="256032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899BB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StudyBuddy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spc="-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OnDemand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6459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layer for AI-powered STEM tutoring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 — without per-student AI cost.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508760" cy="109728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91840"/>
            <a:ext cx="15087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015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391363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K-12 EdTech TAM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84832" y="3291840"/>
            <a:ext cx="1508760" cy="109728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84832" y="3291840"/>
            <a:ext cx="15087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34015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84832" y="391363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Students Worldwide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12464" y="3291840"/>
            <a:ext cx="1508760" cy="109728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3291840"/>
            <a:ext cx="15087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34015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85–88%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712464" y="391363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(Target)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40096" y="3291840"/>
            <a:ext cx="1508760" cy="109728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40096" y="3291840"/>
            <a:ext cx="15087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0096" y="34015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$8/mo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40096" y="391363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69480" y="9144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6948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6948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BB"/>
                </a:solidFill>
              </a:rPr>
              <a:t>studybuddy.io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129284" cy="25603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129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EdTech Is Broken.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Why.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2606040" cy="269748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10512"/>
            <a:ext cx="2606040" cy="54864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385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792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= Slow &amp; Expensive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2944368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request triggers a live Claude/GPT call. That's 5–10 sec latency per question and growing per-student AI cost as you scale.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810512"/>
            <a:ext cx="2606040" cy="269748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810512"/>
            <a:ext cx="26060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9385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10712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Block Everything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10712" y="2944368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COPPA, FERPA, and district IT policies ban live AI tools. The tools that do exist weren't designed for compliance — they bolt it 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810512"/>
            <a:ext cx="2606040" cy="269748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810512"/>
            <a:ext cx="260604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9385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99632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Tutoring Costs $60–$120/hr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9632" y="2944368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5% of K-12 students globally have access to any personalised tutoring. The gap is growing as teacher-to-student ratios worsen.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to build the compliant, affordable, school-safe AI tutor is open right now.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673352" cy="25603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$340B Market Ripe for Disruption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8229600" cy="89611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27632"/>
            <a:ext cx="475488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2763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TAM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07008" y="14996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K-12 EdTech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18836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K-12 students globally · $227/student/yr addressable spend (UNESCO)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$700B+ by 2032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8229600" cy="896112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651760"/>
            <a:ext cx="475488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5176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SAM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07008" y="252374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K-12 Tutoring + School SaaS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29077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~120M students with disposable digital EdTech spend in our initial target geographies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487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$28–55B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09360" y="2944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EU + LATAM markets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229600" cy="89611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675888"/>
            <a:ext cx="475488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758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SOM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07008" y="354787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Years: Canada · US · UK · Australia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licensing at $3–$8/student/month · English-first rollout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51129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$800M–$2.5B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9360" y="39684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$8–$25/student/month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462272"/>
            <a:ext cx="4572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48056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 point: LLM quality × cost curve × COPPA/FERPA pressure all converged in 2024–25. The compliant school-safe AI tutor window is open now.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207008" cy="25603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Pre-Generation: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Cost Advantage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0" y="548640"/>
            <a:ext cx="3200400" cy="1325880"/>
          </a:xfrm>
          <a:prstGeom prst="rect">
            <a:avLst/>
          </a:prstGeom>
          <a:solidFill>
            <a:srgbClr val="15234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254000" dist="50800" dir="8100000">
              <a:srgbClr val="2962C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06440" y="6217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06440" y="896112"/>
            <a:ext cx="2907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content for an entire grade costs ~$40.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it to 10,000 students adds zero marginal AI cost.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1508760" cy="169164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29968"/>
            <a:ext cx="1508760" cy="45720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214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1480" y="26060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Input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017520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or school-uploaded XLSX syllabus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01368" y="26517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62CC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011680" y="2029968"/>
            <a:ext cx="1508760" cy="169164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0" y="2029968"/>
            <a:ext cx="1508760" cy="45720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21214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103120" y="26060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03120" y="3017520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generates Lessons · Quizzes · Audio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93008" y="26517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62CC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03320" y="2029968"/>
            <a:ext cx="1508760" cy="169164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2029968"/>
            <a:ext cx="1508760" cy="45720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21214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794760" y="26060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Review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94760" y="3017520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AlexJS automated safety gate + human approval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84648" y="26517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62CC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94960" y="2029968"/>
            <a:ext cx="1508760" cy="169164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94960" y="2029968"/>
            <a:ext cx="1508760" cy="45720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1214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486400" y="26060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0" y="3017520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 CDN · pre-built, pre-approved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76288" y="265176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62CC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86600" y="2029968"/>
            <a:ext cx="1508760" cy="169164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86600" y="2029968"/>
            <a:ext cx="150876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21214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178040" y="26060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178040" y="3017520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delivery · SQLite offline cache · JWT auth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977640"/>
            <a:ext cx="2606040" cy="594360"/>
          </a:xfrm>
          <a:prstGeom prst="rect">
            <a:avLst/>
          </a:prstGeom>
          <a:solidFill>
            <a:srgbClr val="1E3A6E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005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&lt; 1 sec response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6928" y="42976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5–10 sec live AI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10128" y="3977640"/>
            <a:ext cx="2606040" cy="594360"/>
          </a:xfrm>
          <a:prstGeom prst="rect">
            <a:avLst/>
          </a:prstGeom>
          <a:solidFill>
            <a:srgbClr val="1E3A6E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19856" y="4005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COPPA / FERPA Ready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419856" y="42976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 device calls API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63056" y="3977640"/>
            <a:ext cx="2606040" cy="594360"/>
          </a:xfrm>
          <a:prstGeom prst="rect">
            <a:avLst/>
          </a:prstGeom>
          <a:solidFill>
            <a:srgbClr val="1E3A6E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4005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  Full Offline Mode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72784" y="42976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cache, sync on reconnect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818388" cy="25603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183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PRODUCT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Products. One Platform.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77640" cy="315468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3977640" cy="54864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 (B2C)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1938528"/>
            <a:ext cx="109728" cy="109728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90195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AI-written lessons at grade level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350008"/>
            <a:ext cx="109728" cy="109728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31343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rotating quiz sets per unit (prevents sharing)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761488"/>
            <a:ext cx="109728" cy="109728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72491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Pre-generated TTS audio — English, French, Spanish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172968"/>
            <a:ext cx="109728" cy="109728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13639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lab experiment guides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584448"/>
            <a:ext cx="109728" cy="109728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54787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with SQLite content cache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995928"/>
            <a:ext cx="109728" cy="109728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95935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streaks, curriculum map, session history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371600"/>
            <a:ext cx="3977640" cy="315468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371600"/>
            <a:ext cx="3977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Platform (B2B)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1938528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190195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XLSX curriculum upload → AI generates content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350008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231343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AlexJS safety review + human approval workflow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761488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56632" y="272491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6-report teacher dashboard: unit perf, student cards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172968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313639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management via enrolment codes or CSV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584448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354787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content-block controls (school + platform-wide)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995928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56632" y="395935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teacher digest: struggles, non-logins, feedback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curriculum · Grades 5–12 · English · French · Spanish · COPPA/FERPA Compliant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906524" cy="25603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906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COMPETITIVE LANDSCAPE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Win on the Dimensions That Matter to Schools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011680" cy="347472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1143000" cy="347472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3716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11880" y="1371600"/>
            <a:ext cx="914400" cy="347472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371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1371600"/>
            <a:ext cx="1005840" cy="347472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716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1371600"/>
            <a:ext cx="1051560" cy="347472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371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371600"/>
            <a:ext cx="1234440" cy="347472"/>
          </a:xfrm>
          <a:prstGeom prst="rect">
            <a:avLst/>
          </a:prstGeom>
          <a:solidFill>
            <a:srgbClr val="2962CC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3716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StudyBuddy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1737360"/>
            <a:ext cx="201168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173736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Lessons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68880" y="1737360"/>
            <a:ext cx="114300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3744" y="1737360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US only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1737360"/>
            <a:ext cx="91440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6744" y="173736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1737360"/>
            <a:ext cx="100584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1737360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1737360"/>
            <a:ext cx="105156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86984" y="1737360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1737360"/>
            <a:ext cx="1234440" cy="402336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38544" y="1737360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139696"/>
            <a:ext cx="201168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213969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Curriculum Upload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468880" y="2139696"/>
            <a:ext cx="114300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23744" y="2139696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11880" y="2139696"/>
            <a:ext cx="91440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66744" y="2139696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26280" y="2139696"/>
            <a:ext cx="100584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213969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32120" y="2139696"/>
            <a:ext cx="105156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6984" y="2139696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2139696"/>
            <a:ext cx="1234440" cy="402336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8544" y="2139696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2542032"/>
            <a:ext cx="201168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254203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 Mode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468880" y="2542032"/>
            <a:ext cx="114300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23744" y="2542032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11880" y="2542032"/>
            <a:ext cx="91440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66744" y="2542032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26280" y="2542032"/>
            <a:ext cx="100584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81144" y="254203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32120" y="2542032"/>
            <a:ext cx="105156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86984" y="2542032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83680" y="2542032"/>
            <a:ext cx="1234440" cy="402336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38544" y="2542032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2944368"/>
            <a:ext cx="201168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" y="29443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COPPA + FERPA Compliant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468880" y="2944368"/>
            <a:ext cx="114300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23744" y="2944368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611880" y="2944368"/>
            <a:ext cx="91440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66744" y="2944368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26280" y="2944368"/>
            <a:ext cx="100584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81144" y="2944368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532120" y="2944368"/>
            <a:ext cx="105156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86984" y="2944368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583680" y="2944368"/>
            <a:ext cx="1234440" cy="402336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38544" y="2944368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" y="3346704"/>
            <a:ext cx="201168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" y="334670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Per-Student AI Cost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468880" y="3346704"/>
            <a:ext cx="114300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23744" y="3346704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611880" y="3346704"/>
            <a:ext cx="91440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66744" y="334670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526280" y="3346704"/>
            <a:ext cx="100584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81144" y="3346704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532120" y="3346704"/>
            <a:ext cx="105156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86984" y="3346704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583680" y="3346704"/>
            <a:ext cx="1234440" cy="402336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3346704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57200" y="3749040"/>
            <a:ext cx="201168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2064" y="374904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AI Content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2468880" y="3749040"/>
            <a:ext cx="114300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523744" y="3749040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611880" y="3749040"/>
            <a:ext cx="91440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66744" y="374904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526280" y="3749040"/>
            <a:ext cx="100584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81144" y="3749040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5532120" y="3749040"/>
            <a:ext cx="1051560" cy="402336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586984" y="3749040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583680" y="3749040"/>
            <a:ext cx="1234440" cy="402336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38544" y="3749040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457200" y="4151376"/>
            <a:ext cx="201168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2064" y="415137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Reporting Dashboard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2468880" y="4151376"/>
            <a:ext cx="114300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523744" y="4151376"/>
            <a:ext cx="103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611880" y="4151376"/>
            <a:ext cx="91440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666744" y="4151376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4526280" y="4151376"/>
            <a:ext cx="100584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81144" y="415137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532120" y="4151376"/>
            <a:ext cx="1051560" cy="40233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586984" y="4151376"/>
            <a:ext cx="941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6583680" y="4151376"/>
            <a:ext cx="1234440" cy="402336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638544" y="4151376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"Khan Academy covers the basics. ChatGPT isn't allowed at school. We're the thing in between."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362456" cy="25603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Revenue Engine: B2C + B2B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77640" cy="384048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Student Subscriptions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3977640" cy="59436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10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18105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084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lessons/month · default curriculum · no credit card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3977640" cy="594360"/>
          </a:xfrm>
          <a:prstGeom prst="rect">
            <a:avLst/>
          </a:prstGeom>
          <a:solidFill>
            <a:srgbClr val="1E3A6E"/>
          </a:solidFill>
          <a:ln w="6350">
            <a:solidFill>
              <a:srgbClr val="2962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14016"/>
            <a:ext cx="45720" cy="594360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68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/ mo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lessons · all subjects · audio · offline · progress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72384"/>
            <a:ext cx="3977640" cy="59436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27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3127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 / year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401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plan + priority sync · 25% discount vs monthly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325880"/>
            <a:ext cx="39776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2588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School Licensing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1755648"/>
            <a:ext cx="3977640" cy="59436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8105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89320" y="1810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$3/student/mo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208483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curriculum · teacher dashboard · reporting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414016"/>
            <a:ext cx="3977640" cy="594360"/>
          </a:xfrm>
          <a:prstGeom prst="rect">
            <a:avLst/>
          </a:prstGeom>
          <a:solidFill>
            <a:srgbClr val="1E3A6E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414016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89320" y="2468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$5/student/mo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27432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classrooms · admin controls · bulk enrolment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072384"/>
            <a:ext cx="3977640" cy="59436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127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89320" y="31272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$8/student/mo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340156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Multi-school · data residency SLA · dedicated onboarding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407408"/>
            <a:ext cx="1965960" cy="50292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407408"/>
            <a:ext cx="1965960" cy="36576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443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$7.20/mo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30352" y="47183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32888" y="4407408"/>
            <a:ext cx="1965960" cy="50292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32888" y="4407408"/>
            <a:ext cx="1965960" cy="36576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4443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~$320 total all grades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2606040" y="47183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Cost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08576" y="4407408"/>
            <a:ext cx="1965960" cy="50292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08576" y="4407408"/>
            <a:ext cx="1965960" cy="36576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4443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$0.001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681728" y="47183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AI / Student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684264" y="4407408"/>
            <a:ext cx="1965960" cy="50292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84264" y="4407408"/>
            <a:ext cx="1965960" cy="36576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57416" y="4443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85–88%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757416" y="47183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Target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673352" cy="25603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TRACTION &amp; ROADMAP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Shipped. Real Code. Real Tests.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840480" cy="3063240"/>
          </a:xfrm>
          <a:prstGeom prst="rect">
            <a:avLst/>
          </a:prstGeom>
          <a:solidFill>
            <a:srgbClr val="152347"/>
          </a:solidFill>
          <a:ln w="12700">
            <a:solidFill>
              <a:srgbClr val="00C49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384048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Phase 1 — Complete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1901952"/>
            <a:ext cx="91440" cy="914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6537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+ local bcrypt · RBAC · account management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2286000"/>
            <a:ext cx="91440" cy="914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4942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API · health + metrics observability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2670048"/>
            <a:ext cx="91440" cy="914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63347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· asyncpg pool · Redis · PgBouncer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054096"/>
            <a:ext cx="91440" cy="914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01752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Auth0 PKCE client + JWT storage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3438144"/>
            <a:ext cx="91440" cy="914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0156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37 automated tests passing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3822192"/>
            <a:ext cx="91440" cy="914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8561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live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FastAPI · asyncpg · Redis · PostgreSQL · PgBouncer · Kivy/Android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325880"/>
            <a:ext cx="4114800" cy="59436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1325880"/>
            <a:ext cx="45720" cy="594360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13807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96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50992" y="136245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81728" y="16550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lessons + quizzes · live delivery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1984248"/>
            <a:ext cx="4114800" cy="59436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1984248"/>
            <a:ext cx="45720" cy="594360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20391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96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50992" y="202082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+ Offline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81728" y="23134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· French/Spanish · TTS · push notifications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2642616"/>
            <a:ext cx="4114800" cy="59436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642616"/>
            <a:ext cx="45720" cy="594360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6974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96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50992" y="26791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81728" y="2971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payments · subscriptions · freemium gate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3300984"/>
            <a:ext cx="4114800" cy="59436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3300984"/>
            <a:ext cx="457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33558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50992" y="3337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Platform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81728" y="36301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· curriculum upload · school registration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3959352"/>
            <a:ext cx="4114800" cy="59436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0" y="3959352"/>
            <a:ext cx="45720" cy="5943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40142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50992" y="39959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Launch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81728" y="42885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reporting · extended analytics · full launch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906524" cy="25603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906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FINANCIAL PROJECTIONS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$31M ARR by Year 5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897880" y="1280160"/>
            <a:ext cx="914400" cy="502920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280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12280" y="1280160"/>
            <a:ext cx="914400" cy="502920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1280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726680" y="1280160"/>
            <a:ext cx="777240" cy="502920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1280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503920" y="1280160"/>
            <a:ext cx="1005840" cy="502920"/>
          </a:xfrm>
          <a:prstGeom prst="rect">
            <a:avLst/>
          </a:prstGeom>
          <a:solidFill>
            <a:srgbClr val="1E3A6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49640" y="1280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897880" y="1783080"/>
            <a:ext cx="91440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1783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Launch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12280" y="1783080"/>
            <a:ext cx="91440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1783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726680" y="1783080"/>
            <a:ext cx="77724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17830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$115K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503920" y="1783080"/>
            <a:ext cx="100584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4964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97880" y="2286000"/>
            <a:ext cx="914400" cy="50292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812280" y="2286000"/>
            <a:ext cx="914400" cy="50292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58000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726680" y="2286000"/>
            <a:ext cx="777240" cy="50292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0" y="22860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$580K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503920" y="2286000"/>
            <a:ext cx="1005840" cy="50292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49640" y="2286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897880" y="2788920"/>
            <a:ext cx="91440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0" y="2788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812280" y="2788920"/>
            <a:ext cx="91440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0" y="2788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726680" y="2788920"/>
            <a:ext cx="77724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72400" y="27889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503920" y="2788920"/>
            <a:ext cx="100584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49640" y="2788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897880" y="3291840"/>
            <a:ext cx="914400" cy="50292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0" y="3291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Y4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812280" y="3291840"/>
            <a:ext cx="914400" cy="50292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58000" y="3291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726680" y="3291840"/>
            <a:ext cx="777240" cy="50292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72400" y="32918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$9.2M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8503920" y="3291840"/>
            <a:ext cx="1005840" cy="502920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54964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897880" y="3794760"/>
            <a:ext cx="91440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43600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812280" y="3794760"/>
            <a:ext cx="91440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858000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726680" y="3794760"/>
            <a:ext cx="77724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772400" y="37947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$31M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8503920" y="3794760"/>
            <a:ext cx="100584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549640" y="3794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457200" y="4315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blended ARPU $7.20/month · 35% annual churn (consumer) · 15% churn (school) · school mix 20% → 60% by Y5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207008" cy="25603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GO-TO-MARKET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GTM with Built-in Flywheel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2633472" cy="320040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53312"/>
            <a:ext cx="2633472" cy="54864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1481328"/>
            <a:ext cx="347472" cy="347472"/>
          </a:xfrm>
          <a:prstGeom prst="ellipse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— Direct to Student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19019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spc="100" kern="0" dirty="0">
                <a:solidFill>
                  <a:srgbClr val="296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1–12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" y="2249424"/>
            <a:ext cx="73152" cy="7315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203704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Android-first app store launch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2679192"/>
            <a:ext cx="73152" cy="7315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63347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targeting 'grade 8 math help' clusters (50K–200K searches/cluster)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108960"/>
            <a:ext cx="73152" cy="7315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06324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/ Instagram Reels: exam-anxiety hooks (#StudyTok)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3538728"/>
            <a:ext cx="73152" cy="7315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49300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→ paywall → $8/month Student plan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" y="3968496"/>
            <a:ext cx="73152" cy="7315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92277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$20–$35 · LTV $96/year · ratio 3–5×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63824" y="1353312"/>
            <a:ext cx="2633472" cy="320040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63824" y="1353312"/>
            <a:ext cx="263347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0128" y="1481328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58184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School Sales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28416" y="19019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46704" y="2249424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2203704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teachers adopt → show outcomes to dept. head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46704" y="2679192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263347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outreach: STEM teachers, Ed Tech coordinators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46704" y="3108960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06324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COPPA/FERPA compliance is the key procurement unlock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46704" y="3538728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349300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private schools, international schools, tutoring centres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46704" y="3968496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392277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contract LTV $3,600/yr · CAC $80–$150 → 24–45× ratio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0176" y="1353312"/>
            <a:ext cx="2633472" cy="3200400"/>
          </a:xfrm>
          <a:prstGeom prst="rect">
            <a:avLst/>
          </a:prstGeom>
          <a:solidFill>
            <a:srgbClr val="152347"/>
          </a:solidFill>
          <a:ln w="12700">
            <a:solidFill>
              <a:srgbClr val="15234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0176" y="1353312"/>
            <a:ext cx="2633472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1481328"/>
            <a:ext cx="347472" cy="34747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74536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+ Enterprise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44768" y="19019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spc="100" kern="0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63056" y="2249424"/>
            <a:ext cx="73152" cy="7315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2203704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data from Stage 2 schools becomes the sales deck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63056" y="2679192"/>
            <a:ext cx="73152" cy="7315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263347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 / BETT conference presence with proven results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63056" y="3108960"/>
            <a:ext cx="73152" cy="7315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306324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SLA unlocks EU school markets (GDPR-ready)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63056" y="3538728"/>
            <a:ext cx="73152" cy="7315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49300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procurement at $8/student/month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63056" y="3968496"/>
            <a:ext cx="73152" cy="7315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92277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 grows as school mix rises 20% → 60% by Y5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46634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 marketing budget: ~$62K–$75K · Blended CAC target: &lt;$30 B2C · &lt;$200 B2B school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818388" cy="25603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183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THE ASK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Round: $1.2M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4937760" cy="34747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60%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444752"/>
            <a:ext cx="82296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4447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44752"/>
            <a:ext cx="12344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4447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15%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1444752"/>
            <a:ext cx="1234440" cy="34747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4447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15%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993392"/>
            <a:ext cx="8229600" cy="58521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993392"/>
            <a:ext cx="45720" cy="585216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148840"/>
            <a:ext cx="292608" cy="292608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60%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0482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34086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engineers × 18 months to GA launch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21031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$720K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8229600" cy="58521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651760"/>
            <a:ext cx="45720" cy="58521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807208"/>
            <a:ext cx="292608" cy="2926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10%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70662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29992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build-out + all-grade generation costs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276148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57200" y="3310128"/>
            <a:ext cx="8229600" cy="58521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310128"/>
            <a:ext cx="45720" cy="5852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465576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15%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33649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Sales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36576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campaign + 3 school pilot programme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4198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57200" y="3968496"/>
            <a:ext cx="8229600" cy="585216"/>
          </a:xfrm>
          <a:prstGeom prst="rect">
            <a:avLst/>
          </a:prstGeom>
          <a:solidFill>
            <a:srgbClr val="152347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968496"/>
            <a:ext cx="45720" cy="585216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4123944"/>
            <a:ext cx="292608" cy="2926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15%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05840" y="40233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05840" y="43159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COPPA/FERPA audit + infrastructure + legal entity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32320" y="407822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500 paying students + 3 school pilots with measurable outcome data by Month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96512" y="0"/>
            <a:ext cx="54864" cy="5143500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65760" y="1938528"/>
            <a:ext cx="1280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21408"/>
            <a:ext cx="292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21031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COPPA/FERPA scared away competitors. We designed for it day one.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292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" y="263347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Pre-generation = structural cost moat. No competitor delivers AI at &lt; $0.001/student.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182112"/>
            <a:ext cx="292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" y="316382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learning gaps are measurable. Districts have AI budget and political cover to spend it.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712464"/>
            <a:ext cx="292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" y="369417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shipped and tested. 37/37 tests. This is not a slide deck in search of a product.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242816"/>
            <a:ext cx="292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" y="422452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from the start. GDPR-ready, multi-region design, multi-language pipeline already spec'd.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43400" y="38404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749808"/>
            <a:ext cx="36576" cy="2743200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77724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on Earth, regardless of income, gets a patient, knowledgeable tutor who speaks their language, knows their curriculum, and is available at 2am before an exam.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43400" y="32004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StudyBuddy OnDemand is the infrastructure layer that makes that possible.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3794760"/>
            <a:ext cx="4434840" cy="804672"/>
          </a:xfrm>
          <a:prstGeom prst="rect">
            <a:avLst/>
          </a:prstGeom>
          <a:solidFill>
            <a:srgbClr val="2962CC"/>
          </a:solidFill>
          <a:ln w="12700">
            <a:solidFill>
              <a:srgbClr val="2962CC"/>
            </a:solidFill>
            <a:prstDash val="solid"/>
          </a:ln>
          <a:effectLst>
            <a:outerShdw sx="100000" sy="100000" kx="0" ky="0" algn="bl" rotWithShape="0" blurRad="254000" dist="50800" dir="8100000">
              <a:srgbClr val="2962CC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43400" y="3794760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it.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343400" y="4297680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founder@studybuddy.io  ·  studybuddy.io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StudyBuddy OnDemand · Seed Deck · Confidential ·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StudyBuddy OnDemand — Investor Deck</dc:title>
  <dc:subject>PptxGenJS Presentation</dc:subject>
  <dc:creator>StudyBuddy OnDemand</dc:creator>
  <cp:lastModifiedBy>StudyBuddy OnDemand</cp:lastModifiedBy>
  <cp:revision>1</cp:revision>
  <dcterms:created xsi:type="dcterms:W3CDTF">2026-04-02T14:50:34Z</dcterms:created>
  <dcterms:modified xsi:type="dcterms:W3CDTF">2026-04-02T14:50:34Z</dcterms:modified>
</cp:coreProperties>
</file>